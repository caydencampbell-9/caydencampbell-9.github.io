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Total Budget Spent ($10M Cap)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Cost ($M)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7F1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Population
Focus</c:v>
                  </c:pt>
                  <c:pt idx="1">
                    <c:v>Demand
Focus</c:v>
                  </c:pt>
                  <c:pt idx="2">
                    <c:v>Equity
Baseline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9.95</c:v>
                </c:pt>
                <c:pt idx="1">
                  <c:v>9.95</c:v>
                </c:pt>
                <c:pt idx="2">
                  <c:v>9.95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Strategic Performance (ZEV Coverage)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ZEV Coverage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7F1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Population
Focus</c:v>
                  </c:pt>
                  <c:pt idx="1">
                    <c:v>Demand
Focus</c:v>
                  </c:pt>
                  <c:pt idx="2">
                    <c:v>Equity
Baseline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46399</c:v>
                </c:pt>
                <c:pt idx="1">
                  <c:v>168751</c:v>
                </c:pt>
                <c:pt idx="2">
                  <c:v>99505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Avg ZEVs Covered Per Site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ZEVs Covered Per Site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7F1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Population Focus</c:v>
                  </c:pt>
                  <c:pt idx="1">
                    <c:v>Demand Focus</c:v>
                  </c:pt>
                  <c:pt idx="2">
                    <c:v>Equity Baseline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4218</c:v>
                </c:pt>
                <c:pt idx="1">
                  <c:v>15341</c:v>
                </c:pt>
                <c:pt idx="2">
                  <c:v>9045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Total ZEV Coverage vs. Budget (Demand Focus)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ZEV Coverage</c:v>
                </c:pt>
              </c:strCache>
            </c:strRef>
          </c:tx>
          <c:spPr>
            <a:solidFill>
              <a:srgbClr val="2E7D32"/>
            </a:solidFill>
            <a:ln w="381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$8M</c:v>
                  </c:pt>
                  <c:pt idx="1">
                    <c:v>$10M</c:v>
                  </c:pt>
                  <c:pt idx="2">
                    <c:v>$12M</c:v>
                  </c:pt>
                  <c:pt idx="3">
                    <c:v>$20M</c:v>
                  </c:pt>
                  <c:pt idx="4">
                    <c:v>$30M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135667</c:v>
                </c:pt>
                <c:pt idx="1">
                  <c:v>168751</c:v>
                </c:pt>
                <c:pt idx="2">
                  <c:v>201031</c:v>
                </c:pt>
                <c:pt idx="3">
                  <c:v>297482</c:v>
                </c:pt>
                <c:pt idx="4">
                  <c:v>401410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7315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675120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31520"/>
            <a:ext cx="256032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PRESCRIPTIVE ANALYTICS · PEPPERDINE MSBA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Optimizing California's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NEVI Charging Infrastructure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 Integer Programming approach to site selection, port allocation,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equity-weighted optimization under a $10M federal budget constraint.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22860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564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Team JCT  ·  DESC 605 Midterm  ·  Pepperdine Graziadio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03720" y="731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903720" y="12984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Federal NEVI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Program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0" y="1847088"/>
            <a:ext cx="1280160" cy="1828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1945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03720" y="27614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Optimal Sites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Selected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3310128"/>
            <a:ext cx="1280160" cy="1828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657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03720" y="42245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ZEVs Covered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(Demand Focus)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BACKGROUND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Where Should California's EV Infrastructure Go?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260604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26060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6928" y="20299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$5B in Federal NEVI Funds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6060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Electric Vehicle Infrastructure program is actively deploying billions in EV charging investment across all 50 states — site selection decisions are being contested right now.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260604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234440"/>
            <a:ext cx="2606040" cy="5486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17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01568" y="20299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vs. Efficiency Conflict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26060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Justice40 policy mandates ≥40% of federal climate investment reaches disadvantaged communities (DACs). Purely efficiency-driven models underserve these areas.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60604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34440"/>
            <a:ext cx="26060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417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36208" y="20299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Siting Framework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26060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decisions rely on ad hoc criteria. California needs a data-driven, reproducible model that balances population coverage, EV demand, and equity obligations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Candidate Sites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39319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NEVI Candidate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Energy Commission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pre-screened highway-adjacent locations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ZEV Registration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DMV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EV demand per candidate 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CalEnviroScreen 4.0 (CES)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OEHHA / CalEPA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Disadvantaged community (DAC)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Census ACS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Census Bureau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density by census tract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NEVI Federal Standards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FHWA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count constraints (4–12 per site)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Assumptions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 / Industry benchmarks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cost per site and 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→  400 candidate sites evaluated  ·  11 selected by optimizer  ·  89 months of historical EV data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METHODOLOGY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Framework: Three-Layer Approach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68580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34440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61872" y="1325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1618488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 of 89 months of EV registration data. Identified time trend, COVID-19 disruption, and seasonal demand patterns. Key finding: population alone is a weak predictor of EV adoption (R² = 0.008).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23160"/>
            <a:ext cx="685800" cy="10515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23160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25146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2807208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with month index, COVID indicator, and seasonal dummies. Applied to all 400 candidate sites to estimate forward-looking ZEV demand and site-level coverage potential.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11880"/>
            <a:ext cx="685800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11880"/>
            <a:ext cx="685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1872" y="37033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Analytics (MIP)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1872" y="3995928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Integer Programming model determines binary site selection (y) and integer port allocation (x) across three strategic weight configurations. Optimizes infrastructure impact within hard budget and policy constraints.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MODEL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Model: MIP Formulation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402336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3258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897B"/>
                </a:solidFill>
              </a:rPr>
              <a:t>DECISION VARIABLES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16459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∈ {0,1}</a:t>
            </a:r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binary: site i selected?
</a:t>
            </a:r>
            <a:pPr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xᵢ ∈ ℤ⁺</a:t>
            </a:r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integer: ports at site 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395728"/>
            <a:ext cx="3794760" cy="182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871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897B"/>
                </a:solidFill>
              </a:rPr>
              <a:t>OBJECTIVE FUNCTION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27889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= (Population × w₁) + (ZEV Demand × w₂) + (Equity Score × w₃)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49300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adjust per strategy to model three distinct planning philosophies.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402336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13258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D1B2A"/>
                </a:solidFill>
              </a:rPr>
              <a:t>KEY CONSTRAINTS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73168" y="1673352"/>
            <a:ext cx="54864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6916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189280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infrastructure cost ≤ $10M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73168" y="2249424"/>
            <a:ext cx="54864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26771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Justice40 / DAC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4688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 of investment in disadvantaged communities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73168" y="2825496"/>
            <a:ext cx="54864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84378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NEVI Standards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04495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selected site: 4–12 charging ports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73168" y="3401568"/>
            <a:ext cx="54864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41985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Logic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362102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only installed at selected sites (xᵢ ≤ M·yᵢ)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73168" y="3977640"/>
            <a:ext cx="54864" cy="38404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99592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419709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 variables ≥ 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ANALYSIS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Analysis: What Drives EV Demand?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260604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2588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0.849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CCRN model fit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606040" cy="10972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32588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0.008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→ EV adoption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0604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32588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trend significance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D1B2A"/>
                </a:solidFill>
              </a:rPr>
              <a:t>KEY FINDINGS FROM REGRESSION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3200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3464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28529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trend is the strongest predictor — EV adoption is growing consistently month-over-month, independent of population size.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55848"/>
            <a:ext cx="320040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5584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37413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is a poor proxy for EV demand (R² = 0.008). Infrastructure planned on population density alone will systematically misallocate resources.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77056"/>
            <a:ext cx="32004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7705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389534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created a structural break in CCRN demand (significant positive coefficient). Seasonal dummies capture winter peaks across all qualification types.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398264"/>
            <a:ext cx="32004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9826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44165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site selection must be weighted by observed ZEV registration data, not census population — which our MIP model enforces.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STRATEGY DESIGN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Optimization Strategies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2633472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263347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61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490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Focus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19385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geographic reach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267712"/>
            <a:ext cx="23774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67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w₁ = 0.8  |  w₂ = 0.1  |  w₃ = 0.1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6928" y="2724912"/>
            <a:ext cx="23957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census population density. Sites selected where the most people live — not necessarily where EVs are or where underserved communities need infrastructure.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1234440"/>
            <a:ext cx="2633472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234440"/>
            <a:ext cx="263347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1261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01568" y="1490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Focus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19385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EV coverage efficiency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01568" y="2267712"/>
            <a:ext cx="23774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2267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w₁ = 0.1  |  w₂ = 0.8  |  w₃ = 0.1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01568" y="2724912"/>
            <a:ext cx="23957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existing ZEV registration density. Concentrates chargers where EVs already operate — producing the highest ROI per site and maximum ZEV coverage within budget.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234440"/>
            <a:ext cx="2633472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234440"/>
            <a:ext cx="2633472" cy="65836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261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36208" y="1490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Baseline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19385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Justice40-weighted allocation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36208" y="2267712"/>
            <a:ext cx="23774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267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w₁ = 0.1  |  w₂ = 0.1  |  w₃ = 0.8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36208" y="2724912"/>
            <a:ext cx="23957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prioritizes disadvantaged community (DAC) score. Ensures federal equity obligations are exceeded while still satisfying all budget and NEVI port-count constraints.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RESULTS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Results: All Strategies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457200" y="1234440"/>
          <a:ext cx="39319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663440" y="1234440"/>
          <a:ext cx="40233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KEY FINDING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Comparison Scorecard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/>
              <a:tblGrid>
                <a:gridCol w="2194560"/>
                <a:gridCol w="1965960"/>
                <a:gridCol w="1965960"/>
                <a:gridCol w="19659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Focus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7F1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 Selected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Budget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DAC Investment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ZEV 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46,399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168,751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99,505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ZEV Efficiency (per site)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15,341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Justice40 Compliant?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Efficiency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EFFICIENCY ANALYSIS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Demand Focus Wins: ROI per Site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457200" y="123444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035040" y="1234440"/>
            <a:ext cx="274320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44768" y="13716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897B"/>
                </a:solidFill>
              </a:rPr>
              <a:t>KEY INSIGHT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144768" y="166420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3.6×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144768" y="23591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ZEVs served per site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Demand Focus vs.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Focus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3108960"/>
            <a:ext cx="2194560" cy="274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320040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$9.95M budget.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11 sites.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DAC compliance.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Radically different outcomes.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SENSITIVITY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Sensitivity: Coverage Saturation Check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457200" y="123444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234440"/>
            <a:ext cx="2514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234440"/>
            <a:ext cx="25146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6208" y="1325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36208" y="16550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Current Proposal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36208" y="18562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168,751 ZEVs covered — strong return within federal allocation.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72200" y="2404872"/>
            <a:ext cx="2514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2404872"/>
            <a:ext cx="25146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24963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236208" y="28254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at $12M budget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36208" y="30266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Coverage rises to 201K ZEVs — marginal $2M yields meaningful gains.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72200" y="3575304"/>
            <a:ext cx="25146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3575304"/>
            <a:ext cx="25146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36208" y="36667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236208" y="39959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no saturation yet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236208" y="419709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Coverage scales linearly up to $30M+. No diminishing returns in sight at current candidate pool.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GEOGRAPHIC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Results: Site Distribution Across California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411480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A4AE"/>
                </a:solidFill>
              </a:rPr>
              <a:t>[ MACRO MAP 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Statewide view — all 11 sites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across CA (strategy clusters visible)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0A4AE"/>
                </a:solidFill>
              </a:rPr>
              <a:t>Screenshot: statewide Folium 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90A4AE"/>
                </a:solidFill>
              </a:rPr>
              <a:t>(Population / Demand / Equity overlaid)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02336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468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A4AE"/>
                </a:solidFill>
              </a:rPr>
              <a:t>[ MICRO MAP — LA CLUSTER 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880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Zoomed LA metro — Inglewood/Culver City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cluster + Irvine outlier, tooltips visible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897B"/>
                </a:solidFill>
              </a:rPr>
              <a:t>Site: Airport Marina Ford  ·  Ports: 4  ·  DAC: No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897B"/>
                </a:solidFill>
              </a:rPr>
              <a:t>Site: Irvine Spectrum  ·  Ports: 7  ·  DAC: Yes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897B"/>
                </a:solidFill>
              </a:rPr>
              <a:t>All 11 selected sites satisfy NEVI 4–12 port standard  ·  DAC ≥ 40.2%  ·  Budget utilization = 99.5%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INSIGHTS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Insights for Policy Makers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40233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502920" cy="1691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3444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1344168"/>
            <a:ext cx="3310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Demand-Focused Siting as the Default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709928"/>
            <a:ext cx="331012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Focus strategy delivers 3.6× more ZEVs served per site at identical cost. Population-weighted siting — the intuitive default — leaves 122,000+ potential EV users without nearby infrastructure.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40233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90672"/>
            <a:ext cx="502920" cy="16916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0672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3200400"/>
            <a:ext cx="3310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and Efficiency Are Not in Conflict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566160"/>
            <a:ext cx="331012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strategies cleared the 40% DAC investment threshold. The Justice40 constraint is binding but not costly — planners can meet federal equity obligations without sacrificing ZEV coverage.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40233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234440"/>
            <a:ext cx="502920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23444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57800" y="1344168"/>
            <a:ext cx="3310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Is a Misleading Siting Proxy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1709928"/>
            <a:ext cx="331012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confirms R² = 0.008 for population predicting EV adoption. Infrastructure policy built on demographic density will systematically underfund areas with high actual EV demand.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090672"/>
            <a:ext cx="40233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90672"/>
            <a:ext cx="502920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090672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57800" y="3200400"/>
            <a:ext cx="3310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Increases Yield Linear Returns — Advocate for More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3566160"/>
            <a:ext cx="3310128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shows no saturation at $30M+. Each incremental $2M in NEVI allocation produces proportional ZEV coverage gains. California should pursue expanded federal allocation.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53712" y="0"/>
            <a:ext cx="54864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85800"/>
            <a:ext cx="1463040" cy="2286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CONCLUSION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Demand-Focused Strategy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8288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67712"/>
            <a:ext cx="201168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2677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EV coverage (168,751 ZEVs)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201168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432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Justice40 / DAC mandate (40.2%)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201168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2186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federal investment efficiency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94176"/>
            <a:ext cx="201168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6941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linearly with budget increases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69664"/>
            <a:ext cx="201168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1696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via open-source MIP model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</a:rPr>
              <a:t>Future work: integrate real-time traffic flows, update with 2025 EV registration data, and extend model to multi-year phased deployment.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77724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846320" y="15270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Sites Selected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920240"/>
            <a:ext cx="1463040" cy="228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14884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$9.95M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846320" y="28986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Budget Utilized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291840"/>
            <a:ext cx="1463040" cy="228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52044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168,751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4846320" y="4270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ZEVs Covered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754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Cayden Campbell  ·  Team JCT  ·  DESC 605  ·  Pepperdine MSBA 2025–26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California NEVI Charging Infrastructure</dc:title>
  <dc:subject>PptxGenJS Presentation</dc:subject>
  <dc:creator>Cayden Campbell - Team JCT</dc:creator>
  <cp:lastModifiedBy>Cayden Campbell - Team JCT</cp:lastModifiedBy>
  <cp:revision>1</cp:revision>
  <dcterms:created xsi:type="dcterms:W3CDTF">2026-06-02T03:07:20Z</dcterms:created>
  <dcterms:modified xsi:type="dcterms:W3CDTF">2026-06-02T03:07:20Z</dcterms:modified>
</cp:coreProperties>
</file>